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Robustness Under Degradation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M.Tech AI/ML Project 11</a:t>
            </a:r>
          </a:p>
          <a:p>
            <a:r>
              <a:t>An Analysis of Image Classification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What is Model Robustness?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robustness refers to the ability of an AI system to maintain performance when faced with variations or perturbations.</a:t>
            </a:r>
          </a:p>
          <a:p>
            <a:r>
              <a:t>Real-world data is rarely perfect or identical to training data.</a:t>
            </a:r>
          </a:p>
          <a:p>
            <a:r>
              <a:t>Understanding how a model behaves under less-than-ideal conditions is critical for deployment in critical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evaluation metrics assume test data matches the training distribution.</a:t>
            </a:r>
          </a:p>
          <a:p>
            <a:r>
              <a:t>When image quality deteriorates due to environmental factors or sensor noise, prediction accuracy drops.</a:t>
            </a:r>
          </a:p>
          <a:p>
            <a:r>
              <a:t>Alarmingly, models often remain highly confident in their incorrect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pre-trained image classification model on a standard dataset.</a:t>
            </a:r>
          </a:p>
          <a:p>
            <a:r>
              <a:t>Progressively modify test images using various forms of degradation.</a:t>
            </a:r>
          </a:p>
          <a:p>
            <a:r>
              <a:t>Measure prediction accuracy as image quality deteriorates.</a:t>
            </a:r>
          </a:p>
          <a:p>
            <a:r>
              <a:t>Measure model confidence and track the gap between accuracy and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Model Selection: Pre-trained ResNet-20.</a:t>
            </a:r>
          </a:p>
          <a:p>
            <a:r>
              <a:t>2. Dataset: CIFAR-10.</a:t>
            </a:r>
          </a:p>
          <a:p>
            <a:r>
              <a:t>3. Degradation Pipeline: Apply simulated physical and digital perturbations.</a:t>
            </a:r>
          </a:p>
          <a:p>
            <a:r>
              <a:t>4. Evaluation: Compute metrics across varying severity levels (1 to 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CIFAR-10</a:t>
            </a:r>
          </a:p>
          <a:p>
            <a:pPr lvl="1"/>
            <a:r>
              <a:t>60,000 32x32 color images in 10 classes.</a:t>
            </a:r>
          </a:p>
          <a:p>
            <a:r>
              <a:t>Model: ResNet-20</a:t>
            </a:r>
          </a:p>
          <a:p>
            <a:pPr lvl="1"/>
            <a:r>
              <a:t>A 20-layer Residual Network optimized for small images.</a:t>
            </a:r>
          </a:p>
          <a:p>
            <a:pPr lvl="1"/>
            <a:r>
              <a:t>Loaded pre-trained via PyTorch Hub (chenyaofo/pytorch-cifar-models).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Degradations Simulated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test four distinct types of perturbations, applied at increasing severity levels:</a:t>
            </a:r>
          </a:p>
          <a:p>
            <a:r>
              <a:t>1. Gaussian Blur (Lens defocus / motion)</a:t>
            </a:r>
          </a:p>
          <a:p>
            <a:r>
              <a:t>2. Gaussian Noise (Sensor noise / low light)</a:t>
            </a:r>
          </a:p>
          <a:p>
            <a:r>
              <a:t>3. Brightness Reduction (Poor lighting conditions)</a:t>
            </a:r>
          </a:p>
          <a:p>
            <a:r>
              <a:t>4. Rotation (Misaligned camera / orientation errors)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Degradation: Blur &amp;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Gaussian Blur:</a:t>
            </a:r>
          </a:p>
          <a:p>
            <a:pPr lvl="1"/>
            <a:r>
              <a:t>Radius increases linearly with severity level.</a:t>
            </a:r>
          </a:p>
          <a:p>
            <a:pPr lvl="1"/>
            <a:r>
              <a:t>Tests the model's reliance on high-frequency edge features.</a:t>
            </a:r>
          </a:p>
          <a:p>
            <a:r>
              <a:t>Gaussian Noise:</a:t>
            </a:r>
          </a:p>
          <a:p>
            <a:pPr lvl="1"/>
            <a:r>
              <a:t>Standard deviation of noise increases by 10 per severity step.</a:t>
            </a:r>
          </a:p>
          <a:p>
            <a:pPr lvl="1"/>
            <a:r>
              <a:t>Evaluates robustness against random pixel-level variations.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Degradation: Brightness &amp;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Brightness Reduction:</a:t>
            </a:r>
          </a:p>
          <a:p>
            <a:pPr lvl="1"/>
            <a:r>
              <a:t>Factor decreases by 15% per severity step (min 0.1).</a:t>
            </a:r>
          </a:p>
          <a:p>
            <a:pPr lvl="1"/>
            <a:r>
              <a:t>Simulates underexposed or nighttime scenarios.</a:t>
            </a:r>
          </a:p>
          <a:p>
            <a:r>
              <a:t>Rotation:</a:t>
            </a:r>
          </a:p>
          <a:p>
            <a:pPr lvl="1"/>
            <a:r>
              <a:t>Angle increases by 15 degrees per severity level.</a:t>
            </a:r>
          </a:p>
          <a:p>
            <a:pPr lvl="1"/>
            <a:r>
              <a:t>Tests spatial invariance of the CNN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</a:t>
            </a:r>
          </a:p>
          <a:p>
            <a:pPr lvl="1"/>
            <a:r>
              <a:t>Percentage of correct predictions.</a:t>
            </a:r>
          </a:p>
          <a:p>
            <a:r>
              <a:t>Macro-F1 Score:</a:t>
            </a:r>
          </a:p>
          <a:p>
            <a:pPr lvl="1"/>
            <a:r>
              <a:t>Harmonic mean of precision and recall, averaged across classes.</a:t>
            </a:r>
          </a:p>
          <a:p>
            <a:pPr lvl="1"/>
            <a:r>
              <a:t>Accounts for potential class imbalances in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Confidence-Accuracy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Confidence:</a:t>
            </a:r>
          </a:p>
          <a:p>
            <a:pPr lvl="1"/>
            <a:r>
              <a:t>The average softmax probability of the predicted classes.</a:t>
            </a:r>
          </a:p>
          <a:p>
            <a:r>
              <a:t>Confidence-Accuracy Gap:</a:t>
            </a:r>
          </a:p>
          <a:p>
            <a:pPr lvl="1"/>
            <a:r>
              <a:t>Absolute difference between Mean Confidence and Accuracy.</a:t>
            </a:r>
          </a:p>
          <a:p>
            <a:pPr lvl="1"/>
            <a:r>
              <a:t>A large gap indicates overconfidence: the model is frequently wrong, but highly certain.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Clean Test Images (CIFAR-10).</a:t>
            </a:r>
          </a:p>
          <a:p>
            <a:r>
              <a:t>2. Baseline Evaluation (Severity 0).</a:t>
            </a:r>
          </a:p>
          <a:p>
            <a:r>
              <a:t>3. Loop through degradations (Blur, Noise, Brightness, Rotation).</a:t>
            </a:r>
          </a:p>
          <a:p>
            <a:pPr lvl="1"/>
            <a:r>
              <a:t>4. Loop through severities (1 to 5).</a:t>
            </a:r>
          </a:p>
          <a:p>
            <a:r>
              <a:t>5. Apply transformation -&gt; Model Inference -&gt; Compute Metrics.</a:t>
            </a:r>
          </a:p>
          <a:p>
            <a:r>
              <a:t>6. Aggregate results for comparative visualization.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Degradation Impact:</a:t>
            </a:r>
          </a:p>
          <a:p>
            <a:pPr lvl="1"/>
            <a:r>
              <a:t>Accuracy and F1-score will systematically drop as severity increases.</a:t>
            </a:r>
          </a:p>
          <a:p>
            <a:r>
              <a:t>Overconfidence:</a:t>
            </a:r>
          </a:p>
          <a:p>
            <a:pPr lvl="1"/>
            <a:r>
              <a:t>Mean confidence is expected to drop slower than accuracy.</a:t>
            </a:r>
          </a:p>
          <a:p>
            <a:pPr lvl="1"/>
            <a:r>
              <a:t>The Confidence-Accuracy gap will likely widen at higher severities.</a:t>
            </a:r>
          </a:p>
          <a:p>
            <a:r>
              <a:t>Sensitivity Variance:</a:t>
            </a:r>
          </a:p>
          <a:p>
            <a:pPr lvl="1"/>
            <a:r>
              <a:t>The model may be more robust to brightness changes than structural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Vehicles:</a:t>
            </a:r>
          </a:p>
          <a:p>
            <a:pPr lvl="1"/>
            <a:r>
              <a:t>Cameras blinded by rain, glare, or darkness.</a:t>
            </a:r>
          </a:p>
          <a:p>
            <a:r>
              <a:t>Medical Imaging:</a:t>
            </a:r>
          </a:p>
          <a:p>
            <a:pPr lvl="1"/>
            <a:r>
              <a:t>Varying scanner calibrations and sensor noise.</a:t>
            </a:r>
          </a:p>
          <a:p>
            <a:r>
              <a:t>Security Systems:</a:t>
            </a:r>
          </a:p>
          <a:p>
            <a:pPr lvl="1"/>
            <a:r>
              <a:t>Low resolution and motion blur.</a:t>
            </a:r>
          </a:p>
          <a:p>
            <a:r>
              <a:t>An overconfident wrong prediction is far more dangerous than a low-confidence wrong prediction.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 lvl="1"/>
            <a:r>
              <a:t>Standard metrics are insufficient; evaluating robustness under stress is essential.</a:t>
            </a:r>
          </a:p>
          <a:p>
            <a:r>
              <a:t>Future Work:</a:t>
            </a:r>
          </a:p>
          <a:p>
            <a:pPr lvl="1"/>
            <a:r>
              <a:t>Data Augmentation: Train with degraded images to improve robustness.</a:t>
            </a:r>
          </a:p>
          <a:p>
            <a:pPr lvl="1"/>
            <a:r>
              <a:t>Temperature Scaling: Calibrate the model to output reliable confidence scores.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your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